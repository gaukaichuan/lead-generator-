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  <a:effectLst>
            <a:outerShdw blurRad="127000" dist="50800" dir="5400000" algn="bl" rotWithShape="0">
              <a:srgbClr val="0000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Sales Lead Generator AI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Proposal — Lead Sources, Limitations &amp; Scaling Strategy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0" y="4389120"/>
            <a:ext cx="3959352" cy="45720"/>
          </a:xfrm>
          <a:prstGeom prst="rect">
            <a:avLst/>
          </a:prstGeom>
          <a:solidFill>
            <a:srgbClr val="2563EB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Current Obstacle: Google Maps API Limitation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087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874520"/>
            <a:ext cx="1054303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Bef>
                <a:spcPts val="400"/>
              </a:spcBef>
              <a:buSzPct val="100000"/>
              <a:buFont typeface="+mj-lt"/>
              <a:buAutoNum type="ea1ChsPlain"/>
            </a:pPr>
            <a:r>
              <a:rPr lang="en-US" sz="13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Google Places API has a hard cap of 60 results per search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54480" y="2286000"/>
            <a:ext cx="99943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>
              <a:spcBef>
                <a:spcPts val="200"/>
              </a:spcBef>
            </a:pPr>
            <a:r>
              <a:rPr lang="en-US" sz="120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Each page returns max 20 results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2697480"/>
            <a:ext cx="99943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>
              <a:spcBef>
                <a:spcPts val="200"/>
              </a:spcBef>
            </a:pPr>
            <a:r>
              <a:rPr lang="en-US" sz="120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API allows only 3 pages via nextPageToken (20 × 3 = 60)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109087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No subscription or paid tier can increase this limit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109087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Workarounds Within Google Maps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931920"/>
            <a:ext cx="1054303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Bef>
                <a:spcPts val="400"/>
              </a:spcBef>
              <a:buSzPct val="100000"/>
              <a:buFont typeface="+mj-lt"/>
              <a:buAutoNum type="ea1ChsPlain"/>
            </a:pPr>
            <a:r>
              <a:rPr lang="en-US" sz="13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Change the search query (e.g., "retail shops" → "hardware stores")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4343400"/>
            <a:ext cx="1054303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Bef>
                <a:spcPts val="400"/>
              </a:spcBef>
              <a:buSzPct val="100000"/>
              <a:buFont typeface="+mj-lt"/>
              <a:buAutoNum type="ea1ChsPlain"/>
            </a:pPr>
            <a:r>
              <a:rPr lang="en-US" sz="13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Change the location / radius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4754880"/>
            <a:ext cx="1054303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Bef>
                <a:spcPts val="400"/>
              </a:spcBef>
              <a:buSzPct val="100000"/>
              <a:buFont typeface="+mj-lt"/>
              <a:buAutoNum type="ea1ChsPlain"/>
            </a:pPr>
            <a:r>
              <a:rPr lang="en-US" sz="13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Narrow the category search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Strategy: Diversify Lead Sources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9087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To scale beyond the 60-result ceiling, we integrate multiple data sources: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1691640"/>
            <a:ext cx="1054303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Bef>
                <a:spcPts val="400"/>
              </a:spcBef>
              <a:buSzPct val="100000"/>
              <a:buFont typeface="+mj-lt"/>
              <a:buAutoNum type="ea1ChsPlain"/>
            </a:pPr>
            <a:r>
              <a:rPr lang="en-US" sz="13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Google Maps (Google Places API) — Local businesses with contact info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103120"/>
            <a:ext cx="1054303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Bef>
                <a:spcPts val="400"/>
              </a:spcBef>
              <a:buSzPct val="100000"/>
              <a:buFont typeface="+mj-lt"/>
              <a:buAutoNum type="ea1ChsPlain"/>
            </a:pPr>
            <a:r>
              <a:rPr lang="en-US" sz="13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OutScraper — Google Maps at scale, pay-per-use, API access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514600"/>
            <a:ext cx="1054303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Bef>
                <a:spcPts val="400"/>
              </a:spcBef>
              <a:buSzPct val="100000"/>
              <a:buFont typeface="+mj-lt"/>
              <a:buAutoNum type="ea1ChsPlain"/>
            </a:pPr>
            <a:r>
              <a:rPr lang="en-US" sz="13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D7 Lead Finder — 1,200+ leads per search, social signals included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1054303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Bef>
                <a:spcPts val="400"/>
              </a:spcBef>
              <a:buSzPct val="100000"/>
              <a:buFont typeface="+mj-lt"/>
              <a:buAutoNum type="ea1ChsPlain"/>
            </a:pPr>
            <a:r>
              <a:rPr lang="en-US" sz="13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Social Media APIs — Facebook, Instagram, LinkedIn, Twitter/X, YouTube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109087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Why Diversify?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749040"/>
            <a:ext cx="1054303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Bef>
                <a:spcPts val="400"/>
              </a:spcBef>
              <a:buSzPct val="100000"/>
              <a:buFont typeface="+mj-lt"/>
              <a:buAutoNum type="ea1ChsPlain"/>
            </a:pPr>
            <a:r>
              <a:rPr lang="en-US" sz="13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Higher lead volume without hitting per-source caps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4160520"/>
            <a:ext cx="1054303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Bef>
                <a:spcPts val="400"/>
              </a:spcBef>
              <a:buSzPct val="100000"/>
              <a:buFont typeface="+mj-lt"/>
              <a:buAutoNum type="ea1ChsPlain"/>
            </a:pPr>
            <a:r>
              <a:rPr lang="en-US" sz="13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Richer lead profiles (social links, email providers, ad status)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4572000"/>
            <a:ext cx="1054303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Bef>
                <a:spcPts val="400"/>
              </a:spcBef>
              <a:buSzPct val="100000"/>
              <a:buFont typeface="+mj-lt"/>
              <a:buAutoNum type="ea1ChsPlain"/>
            </a:pPr>
            <a:r>
              <a:rPr lang="en-US" sz="13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Cross-platform deduplication for better data quality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Lead Scraper Comparison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133350" y="1371600"/>
          <a:ext cx="8898890" cy="3070860"/>
        </p:xfrm>
        <a:graphic>
          <a:graphicData uri="http://schemas.openxmlformats.org/drawingml/2006/table">
            <a:tbl>
              <a:tblPr/>
              <a:tblGrid>
                <a:gridCol w="2610485"/>
                <a:gridCol w="2983865"/>
                <a:gridCol w="3304540"/>
              </a:tblGrid>
              <a:tr h="5118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Feature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OutScraper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D7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Lead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Finder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Max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per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Search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Unlimited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~1,200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leads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Pricing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$3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/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1,000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records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(free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500)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$44.99–$119.99/month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API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Access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Included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(Medium+)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Available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Data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Depth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Google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Maps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only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Maps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+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Social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Signals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Best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For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Google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Maps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at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scale,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pay-as-you-go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High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volume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+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social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enrichment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OutScraper Pricing Details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357505" y="1536065"/>
          <a:ext cx="8086090" cy="2673350"/>
        </p:xfrm>
        <a:graphic>
          <a:graphicData uri="http://schemas.openxmlformats.org/drawingml/2006/table">
            <a:tbl>
              <a:tblPr/>
              <a:tblGrid>
                <a:gridCol w="2204085"/>
                <a:gridCol w="3085465"/>
                <a:gridCol w="2796540"/>
              </a:tblGrid>
              <a:tr h="572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Tier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Price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Details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Free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$0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First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500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businesses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5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Medium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Tier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$3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/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1,000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records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Up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to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100k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records.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API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access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included.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Business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Tier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$1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/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1,000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records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After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100k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records.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No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hard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cap.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D7 Lead Finder Pricing Details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391160" y="1447800"/>
          <a:ext cx="8125460" cy="2639060"/>
        </p:xfrm>
        <a:graphic>
          <a:graphicData uri="http://schemas.openxmlformats.org/drawingml/2006/table">
            <a:tbl>
              <a:tblPr/>
              <a:tblGrid>
                <a:gridCol w="1703070"/>
                <a:gridCol w="2383790"/>
                <a:gridCol w="4038600"/>
              </a:tblGrid>
              <a:tr h="3136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Tier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Price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Details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Starter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$44.99/month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~3,500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daily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leads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•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10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daily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searches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Agency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$54.99/month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~10,000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daily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leads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•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30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daily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searches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•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Detect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FB/Google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Pixel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•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Business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Ranking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•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IG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following/likes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data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•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Website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scan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data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Professional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$119.99/month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~30,000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daily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leads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•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100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daily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searches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•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All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Agency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features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•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5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sub-accounts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•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Bulk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search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•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Main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category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for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business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Social Media as Lead Sources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640080" y="1188720"/>
          <a:ext cx="7919085" cy="3511550"/>
        </p:xfrm>
        <a:graphic>
          <a:graphicData uri="http://schemas.openxmlformats.org/drawingml/2006/table">
            <a:tbl>
              <a:tblPr/>
              <a:tblGrid>
                <a:gridCol w="1593850"/>
                <a:gridCol w="3622675"/>
                <a:gridCol w="2702560"/>
              </a:tblGrid>
              <a:tr h="3111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Platform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What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You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Get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Difficulty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/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Cost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LinkedIn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Company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search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by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industry/region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via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Sales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Navigator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API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•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Limited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profile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data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•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Contact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info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not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directly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available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HIGH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—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Expensive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API,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requires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enterprise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access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88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Facebook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Pages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Public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business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page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info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(name,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category,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phone,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website,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hours)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via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Graph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API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•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No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personal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contact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info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MEDIUM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—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API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available,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mostly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free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88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Instagram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Business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profiles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via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Graph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API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(name,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website,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phone,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category)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•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Similar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to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Facebook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MEDIUM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—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Same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as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Facebook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5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Twitter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/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X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Public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business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profiles,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followers,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tweets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•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Limited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contact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info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MEDIUM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—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Free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tier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but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very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limited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5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YouTube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Channel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info,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contact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emails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sometimes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in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"about"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section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LOW-MEDIUM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—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Scraping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or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Data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API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448945" y="514985"/>
            <a:ext cx="10908792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Social Media API Pricing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640080" y="1536065"/>
          <a:ext cx="7895590" cy="3129280"/>
        </p:xfrm>
        <a:graphic>
          <a:graphicData uri="http://schemas.openxmlformats.org/drawingml/2006/table">
            <a:tbl>
              <a:tblPr/>
              <a:tblGrid>
                <a:gridCol w="3308985"/>
                <a:gridCol w="4586605"/>
              </a:tblGrid>
              <a:tr h="782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Platform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Cost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2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Facebook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/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Instagram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Free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(business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page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data)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2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LinkedIn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Sales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Navigator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~$99–$149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/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month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2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YouTube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Data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API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Free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(within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quotas)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/>
          <p:nvPr/>
        </p:nvSpPr>
        <p:spPr>
          <a:xfrm>
            <a:off x="324485" y="128905"/>
            <a:ext cx="10908792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Recommended Approach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8470" y="730250"/>
            <a:ext cx="109087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Phase 1: Maximize Google Maps + OutScraper</a:t>
            </a:r>
            <a:endParaRPr lang="en-US" sz="1000" b="1" dirty="0">
              <a:solidFill>
                <a:srgbClr val="2563EB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8470" y="960120"/>
            <a:ext cx="1054303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Bef>
                <a:spcPts val="400"/>
              </a:spcBef>
              <a:buSzPct val="100000"/>
              <a:buFont typeface="+mj-lt"/>
              <a:buAutoNum type="ea1ChsPlain"/>
            </a:pPr>
            <a:r>
              <a:rPr lang="en-US" sz="9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Increase Google Maps search cap to 60 (already done)</a:t>
            </a:r>
            <a:endParaRPr lang="en-US" sz="900" dirty="0">
              <a:solidFill>
                <a:srgbClr val="64748B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8470" y="1250315"/>
            <a:ext cx="1054303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Bef>
                <a:spcPts val="400"/>
              </a:spcBef>
              <a:buSzPct val="100000"/>
              <a:buFont typeface="+mj-lt"/>
              <a:buAutoNum type="ea1ChsPlain"/>
            </a:pPr>
            <a:r>
              <a:rPr lang="en-US" sz="9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Deduplicate results to avoid re-importing same leads (already done)</a:t>
            </a:r>
            <a:endParaRPr lang="en-US" sz="900" dirty="0">
              <a:solidFill>
                <a:srgbClr val="64748B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8470" y="1577340"/>
            <a:ext cx="1054303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Bef>
                <a:spcPts val="400"/>
              </a:spcBef>
              <a:buSzPct val="100000"/>
              <a:buFont typeface="+mj-lt"/>
              <a:buAutoNum type="ea1ChsPlain"/>
            </a:pPr>
            <a:r>
              <a:rPr lang="en-US" sz="9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Integrate OutScraper API for higher-volume Google Maps extraction</a:t>
            </a:r>
            <a:endParaRPr lang="en-US" sz="900" dirty="0">
              <a:solidFill>
                <a:srgbClr val="64748B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25145" y="1952625"/>
            <a:ext cx="109087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Phase 2: Add D7 Lead Finder</a:t>
            </a:r>
            <a:endParaRPr lang="en-US" sz="1000" b="1" dirty="0">
              <a:solidFill>
                <a:srgbClr val="2563EB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25145" y="2297430"/>
            <a:ext cx="1054303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Bef>
                <a:spcPts val="400"/>
              </a:spcBef>
              <a:buSzPct val="100000"/>
              <a:buFont typeface="+mj-lt"/>
              <a:buAutoNum type="ea1ChsPlain"/>
            </a:pPr>
            <a:r>
              <a:rPr lang="en-US" sz="9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1,200 leads per search — massive volume increase</a:t>
            </a:r>
            <a:endParaRPr lang="en-US" sz="900" dirty="0">
              <a:solidFill>
                <a:srgbClr val="64748B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25145" y="2654935"/>
            <a:ext cx="1054303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Bef>
                <a:spcPts val="400"/>
              </a:spcBef>
              <a:buSzPct val="100000"/>
              <a:buFont typeface="+mj-lt"/>
              <a:buAutoNum type="ea1ChsPlain"/>
            </a:pPr>
            <a:r>
              <a:rPr lang="en-US" sz="9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Social signals included (FB/IG following, ad status, email provider)</a:t>
            </a:r>
            <a:endParaRPr lang="en-US" sz="900" dirty="0">
              <a:solidFill>
                <a:srgbClr val="64748B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25145" y="3102610"/>
            <a:ext cx="109087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Phase 3: Social Media Integration</a:t>
            </a:r>
            <a:endParaRPr lang="en-US" sz="1000" b="1" dirty="0">
              <a:solidFill>
                <a:srgbClr val="2563EB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25145" y="3502025"/>
            <a:ext cx="1054303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Bef>
                <a:spcPts val="400"/>
              </a:spcBef>
              <a:buSzPct val="100000"/>
              <a:buFont typeface="+mj-lt"/>
              <a:buAutoNum type="ea1ChsPlain"/>
            </a:pPr>
            <a:r>
              <a:rPr lang="en-US" sz="9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Start with Facebook/Instagram Graph API (free)</a:t>
            </a:r>
            <a:endParaRPr lang="en-US" sz="900" dirty="0">
              <a:solidFill>
                <a:srgbClr val="64748B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25145" y="3864610"/>
            <a:ext cx="1054303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Bef>
                <a:spcPts val="400"/>
              </a:spcBef>
              <a:buSzPct val="100000"/>
              <a:buFont typeface="+mj-lt"/>
              <a:buAutoNum type="ea1ChsPlain"/>
            </a:pPr>
            <a:r>
              <a:rPr lang="en-US" sz="9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Add LinkedIn Sales Navigator for B2B leads if needed</a:t>
            </a:r>
            <a:endParaRPr lang="en-US" sz="900" dirty="0">
              <a:solidFill>
                <a:srgbClr val="64748B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  <a:effectLst>
            <a:outerShdw blurRad="127000" dist="50800" dir="5400000" algn="bl" rotWithShape="0">
              <a:srgbClr val="0000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0" y="4389120"/>
            <a:ext cx="3959352" cy="45720"/>
          </a:xfrm>
          <a:prstGeom prst="rect">
            <a:avLst/>
          </a:prstGeom>
          <a:solidFill>
            <a:srgbClr val="2563EB"/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3323</Words>
  <Application>WPS Presentation</Application>
  <PresentationFormat>On-screen Show (16:9)</PresentationFormat>
  <Paragraphs>227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Segoe UI</vt:lpstr>
      <vt:lpstr>Segoe UI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Gau kai chuan</cp:lastModifiedBy>
  <cp:revision>2</cp:revision>
  <dcterms:created xsi:type="dcterms:W3CDTF">2026-05-15T07:07:00Z</dcterms:created>
  <dcterms:modified xsi:type="dcterms:W3CDTF">2026-05-15T07:20:59Z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ED555A2ACC2F4A819CC392CDFED542B4_12</vt:lpwstr>
  </property>
</Properties>
</file>