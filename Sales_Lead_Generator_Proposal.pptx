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9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828800"/>
            <a:ext cx="10360152" cy="1828800"/>
          </a:xfrm>
          <a:prstGeom prst="rect">
            <a:avLst/>
          </a:prstGeom>
          <a:noFill/>
          <a:ln/>
          <a:effectLst>
            <a:outerShdw sx="100000" sy="100000" kx="0" ky="0" algn="bl" rotWithShape="0" blurRad="127000" dist="50800" dir="5400000">
              <a:srgbClr val="000000">
                <a:alpha val="75000"/>
              </a:srgbClr>
            </a:outerShdw>
          </a:effectLst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Sales Lead Generator AI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914400" y="3657600"/>
            <a:ext cx="1036015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Proposal — Lead Sources, Limitations &amp; Scaling Strategy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4114800" y="4389120"/>
            <a:ext cx="3959352" cy="45720"/>
          </a:xfrm>
          <a:prstGeom prst="rect">
            <a:avLst/>
          </a:prstGeom>
          <a:solidFill>
            <a:srgbClr val="2563EB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109087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Current Obstacle: Google Maps API Limitation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463040"/>
            <a:ext cx="109087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F444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Challenge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05840" y="1874520"/>
            <a:ext cx="105430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Bef>
                <a:spcPts val="400"/>
              </a:spcBef>
              <a:buSzPct val="100000"/>
              <a:buFont typeface="+mj-lt"/>
              <a:buAutoNum type="circle" startAt="1"/>
            </a:pPr>
            <a:r>
              <a:rPr lang="en-US" sz="13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Google Places API has a hard cap of 60 results per search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554480" y="2286000"/>
            <a:ext cx="99943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>
              <a:spcBef>
                <a:spcPts val="200"/>
              </a:spcBef>
            </a:pPr>
            <a:r>
              <a:rPr lang="en-US" sz="12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Each page returns max 20 results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554480" y="2697480"/>
            <a:ext cx="99943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>
              <a:spcBef>
                <a:spcPts val="200"/>
              </a:spcBef>
            </a:pPr>
            <a:r>
              <a:rPr lang="en-US" sz="12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API allows only 3 pages via nextPageToken (20 × 3 = 60)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3108960"/>
            <a:ext cx="109087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9E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subscription or paid tier can increase this limit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40080" y="3520440"/>
            <a:ext cx="109087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Workarounds Within Google Maps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005840" y="3931920"/>
            <a:ext cx="105430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Bef>
                <a:spcPts val="400"/>
              </a:spcBef>
              <a:buSzPct val="100000"/>
              <a:buFont typeface="+mj-lt"/>
              <a:buAutoNum type="circle" startAt="1"/>
            </a:pPr>
            <a:r>
              <a:rPr lang="en-US" sz="13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Change the search query (e.g., "retail shops" → "hardware stores")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005840" y="4343400"/>
            <a:ext cx="105430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Bef>
                <a:spcPts val="400"/>
              </a:spcBef>
              <a:buSzPct val="100000"/>
              <a:buFont typeface="+mj-lt"/>
              <a:buAutoNum type="circle" startAt="1"/>
            </a:pPr>
            <a:r>
              <a:rPr lang="en-US" sz="13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Change the location / radius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05840" y="4754880"/>
            <a:ext cx="105430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Bef>
                <a:spcPts val="400"/>
              </a:spcBef>
              <a:buSzPct val="100000"/>
              <a:buFont typeface="+mj-lt"/>
              <a:buAutoNum type="circle" startAt="1"/>
            </a:pPr>
            <a:r>
              <a:rPr lang="en-US" sz="13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Narrow the category search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109087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Strategy: Diversify Lead Sources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280160"/>
            <a:ext cx="109087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 scale beyond the 60-result ceiling, we integrate multiple data sources: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05840" y="1691640"/>
            <a:ext cx="105430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Bef>
                <a:spcPts val="400"/>
              </a:spcBef>
              <a:buSzPct val="100000"/>
              <a:buFont typeface="+mj-lt"/>
              <a:buAutoNum type="circle" startAt="1"/>
            </a:pPr>
            <a:r>
              <a:rPr lang="en-US" sz="13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Google Maps (Google Places API) — Local businesses with contact info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05840" y="2103120"/>
            <a:ext cx="105430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Bef>
                <a:spcPts val="400"/>
              </a:spcBef>
              <a:buSzPct val="100000"/>
              <a:buFont typeface="+mj-lt"/>
              <a:buAutoNum type="circle" startAt="1"/>
            </a:pPr>
            <a:r>
              <a:rPr lang="en-US" sz="13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OutScraper — Google Maps at scale, pay-per-use, API access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005840" y="2514600"/>
            <a:ext cx="105430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Bef>
                <a:spcPts val="400"/>
              </a:spcBef>
              <a:buSzPct val="100000"/>
              <a:buFont typeface="+mj-lt"/>
              <a:buAutoNum type="circle" startAt="1"/>
            </a:pPr>
            <a:r>
              <a:rPr lang="en-US" sz="13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D7 Lead Finder — 1,200+ leads per search, social signals included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05840" y="2926080"/>
            <a:ext cx="105430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Bef>
                <a:spcPts val="400"/>
              </a:spcBef>
              <a:buSzPct val="100000"/>
              <a:buFont typeface="+mj-lt"/>
              <a:buAutoNum type="circle" startAt="1"/>
            </a:pPr>
            <a:r>
              <a:rPr lang="en-US" sz="13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Social Media APIs — Facebook, Instagram, LinkedIn, Twitter/X, YouTube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40080" y="3337560"/>
            <a:ext cx="109087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Why Diversify?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005840" y="3749040"/>
            <a:ext cx="105430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Bef>
                <a:spcPts val="400"/>
              </a:spcBef>
              <a:buSzPct val="100000"/>
              <a:buFont typeface="+mj-lt"/>
              <a:buAutoNum type="circle" startAt="1"/>
            </a:pPr>
            <a:r>
              <a:rPr lang="en-US" sz="13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Higher lead volume without hitting per-source caps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005840" y="4160520"/>
            <a:ext cx="105430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Bef>
                <a:spcPts val="400"/>
              </a:spcBef>
              <a:buSzPct val="100000"/>
              <a:buFont typeface="+mj-lt"/>
              <a:buAutoNum type="circle" startAt="1"/>
            </a:pPr>
            <a:r>
              <a:rPr lang="en-US" sz="13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Richer lead profiles (social links, email providers, ad status)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05840" y="4572000"/>
            <a:ext cx="105430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Bef>
                <a:spcPts val="400"/>
              </a:spcBef>
              <a:buSzPct val="100000"/>
              <a:buFont typeface="+mj-lt"/>
              <a:buAutoNum type="circle" startAt="1"/>
            </a:pPr>
            <a:r>
              <a:rPr lang="en-US" sz="13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Cross-platform deduplication for better data quality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109087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Lead Scraper Comparison</a:t>
            </a:r>
            <a:endParaRPr lang="en-US" sz="28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371600"/>
          <a:ext cx="10908792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3657600"/>
                <a:gridCol w="4050792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Feature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OutScraper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D7 </a:t>
                      </a:r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Lead </a:t>
                      </a:r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Finder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Max </a:t>
                      </a:r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per </a:t>
                      </a:r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Search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Unlimited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~1,200 </a:t>
                      </a:r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leads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Pricing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$3 </a:t>
                      </a:r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/ </a:t>
                      </a:r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1,000 </a:t>
                      </a:r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records </a:t>
                      </a:r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(free </a:t>
                      </a:r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500)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$44.99–$119.99/month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API </a:t>
                      </a:r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Access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Included </a:t>
                      </a:r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(Medium+)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Available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Data </a:t>
                      </a:r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Depth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Google </a:t>
                      </a:r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Maps </a:t>
                      </a:r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only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Maps </a:t>
                      </a:r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+ </a:t>
                      </a:r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Social </a:t>
                      </a:r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Signals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Best </a:t>
                      </a:r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For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Google </a:t>
                      </a:r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Maps </a:t>
                      </a:r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at </a:t>
                      </a:r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scale, </a:t>
                      </a:r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pay-as-you-go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High </a:t>
                      </a:r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volume </a:t>
                      </a:r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+ </a:t>
                      </a:r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social </a:t>
                      </a:r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enrichment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109087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OutScraper Pricing Details</a:t>
            </a:r>
            <a:endParaRPr lang="en-US" sz="28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371600"/>
          <a:ext cx="10908792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3200400"/>
                <a:gridCol w="5422392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Tier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Price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Details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Free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$0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First </a:t>
                      </a:r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500 </a:t>
                      </a:r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businesses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Medium </a:t>
                      </a:r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Tier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$3 </a:t>
                      </a:r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/ </a:t>
                      </a:r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1,000 </a:t>
                      </a:r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records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Up </a:t>
                      </a:r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to </a:t>
                      </a:r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100k </a:t>
                      </a:r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records. </a:t>
                      </a:r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API </a:t>
                      </a:r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access </a:t>
                      </a:r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included.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Business </a:t>
                      </a:r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Tier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$1 </a:t>
                      </a:r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/ </a:t>
                      </a:r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1,000 </a:t>
                      </a:r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records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After </a:t>
                      </a:r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100k </a:t>
                      </a:r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records. </a:t>
                      </a:r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 </a:t>
                      </a:r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hard </a:t>
                      </a:r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cap.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109087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D7 Lead Finder Pricing Details</a:t>
            </a:r>
            <a:endParaRPr lang="en-US" sz="28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371600"/>
          <a:ext cx="10908792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3200400"/>
                <a:gridCol w="5422392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Tier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Price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Details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Starter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$44.99/month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~3,500 </a:t>
                      </a:r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daily </a:t>
                      </a:r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leads </a:t>
                      </a:r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• </a:t>
                      </a:r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10 </a:t>
                      </a:r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daily </a:t>
                      </a:r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searches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Agency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$54.99/month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~10,000 </a:t>
                      </a:r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daily </a:t>
                      </a:r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leads </a:t>
                      </a:r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• </a:t>
                      </a:r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30 </a:t>
                      </a:r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daily </a:t>
                      </a:r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searches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• </a:t>
                      </a:r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Detect </a:t>
                      </a:r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FB/Google </a:t>
                      </a:r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Pixel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• </a:t>
                      </a:r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Business </a:t>
                      </a:r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Ranking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• </a:t>
                      </a:r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IG </a:t>
                      </a:r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following/likes </a:t>
                      </a:r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data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• </a:t>
                      </a:r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Website </a:t>
                      </a:r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scan </a:t>
                      </a:r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data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Professional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$119.99/month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~30,000 </a:t>
                      </a:r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daily </a:t>
                      </a:r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leads </a:t>
                      </a:r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• </a:t>
                      </a:r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100 </a:t>
                      </a:r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daily </a:t>
                      </a:r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searches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• </a:t>
                      </a:r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All </a:t>
                      </a:r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Agency </a:t>
                      </a:r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features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• </a:t>
                      </a:r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5 </a:t>
                      </a:r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sub-accounts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• </a:t>
                      </a:r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Bulk </a:t>
                      </a:r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search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• </a:t>
                      </a:r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Main </a:t>
                      </a:r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category </a:t>
                      </a:r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for </a:t>
                      </a:r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business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109087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Social Media as Lead Sources</a:t>
            </a:r>
            <a:endParaRPr lang="en-US" sz="28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371600"/>
          <a:ext cx="10908792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4572000"/>
                <a:gridCol w="3410712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Platform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What </a:t>
                      </a:r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You </a:t>
                      </a:r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Get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Difficulty </a:t>
                      </a:r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/ </a:t>
                      </a:r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Cost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LinkedIn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Company </a:t>
                      </a:r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search </a:t>
                      </a:r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by </a:t>
                      </a:r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industry/region </a:t>
                      </a:r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via </a:t>
                      </a:r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Sales </a:t>
                      </a:r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Navigator </a:t>
                      </a:r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API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• </a:t>
                      </a:r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Limited </a:t>
                      </a:r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profile </a:t>
                      </a:r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data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• </a:t>
                      </a:r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Contact </a:t>
                      </a:r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info </a:t>
                      </a:r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not </a:t>
                      </a:r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directly </a:t>
                      </a:r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available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HIGH </a:t>
                      </a:r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— </a:t>
                      </a:r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Expensive </a:t>
                      </a:r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API, </a:t>
                      </a:r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requires </a:t>
                      </a:r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enterprise </a:t>
                      </a:r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access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Facebook </a:t>
                      </a:r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Pages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Public </a:t>
                      </a:r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business </a:t>
                      </a:r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page </a:t>
                      </a:r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info </a:t>
                      </a:r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(name, </a:t>
                      </a:r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category, </a:t>
                      </a:r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phone, </a:t>
                      </a:r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website, </a:t>
                      </a:r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hours) </a:t>
                      </a:r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via </a:t>
                      </a:r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Graph </a:t>
                      </a:r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API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• </a:t>
                      </a:r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 </a:t>
                      </a:r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personal </a:t>
                      </a:r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contact </a:t>
                      </a:r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info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MEDIUM </a:t>
                      </a:r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— </a:t>
                      </a:r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API </a:t>
                      </a:r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available, </a:t>
                      </a:r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mostly </a:t>
                      </a:r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free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Instagram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Business </a:t>
                      </a:r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profiles </a:t>
                      </a:r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via </a:t>
                      </a:r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Graph </a:t>
                      </a:r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API </a:t>
                      </a:r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(name, </a:t>
                      </a:r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website, </a:t>
                      </a:r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phone, </a:t>
                      </a:r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category)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• </a:t>
                      </a:r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Similar </a:t>
                      </a:r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to </a:t>
                      </a:r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Facebook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MEDIUM </a:t>
                      </a:r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— </a:t>
                      </a:r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Same </a:t>
                      </a:r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as </a:t>
                      </a:r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Facebook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Twitter </a:t>
                      </a:r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/ </a:t>
                      </a:r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X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Public </a:t>
                      </a:r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business </a:t>
                      </a:r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profiles, </a:t>
                      </a:r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followers, </a:t>
                      </a:r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tweets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• </a:t>
                      </a:r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Limited </a:t>
                      </a:r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contact </a:t>
                      </a:r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info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MEDIUM </a:t>
                      </a:r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— </a:t>
                      </a:r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Free </a:t>
                      </a:r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tier </a:t>
                      </a:r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but </a:t>
                      </a:r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very </a:t>
                      </a:r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limited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YouTube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Channel </a:t>
                      </a:r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info, </a:t>
                      </a:r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contact </a:t>
                      </a:r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emails </a:t>
                      </a:r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sometimes </a:t>
                      </a:r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in </a:t>
                      </a:r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"about" </a:t>
                      </a:r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section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LOW-MEDIUM </a:t>
                      </a:r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— </a:t>
                      </a:r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Scraping </a:t>
                      </a:r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or </a:t>
                      </a:r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Data </a:t>
                      </a:r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API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109087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Social Media API Pricing</a:t>
            </a:r>
            <a:endParaRPr lang="en-US" sz="28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371600"/>
          <a:ext cx="10908792" cy="914400"/>
        </p:xfrm>
        <a:graphic>
          <a:graphicData uri="http://schemas.openxmlformats.org/drawingml/2006/table">
            <a:tbl>
              <a:tblPr/>
              <a:tblGrid>
                <a:gridCol w="4572000"/>
                <a:gridCol w="6336792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Platform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Cost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Facebook </a:t>
                      </a:r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/ </a:t>
                      </a:r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Instagram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Free </a:t>
                      </a:r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(business </a:t>
                      </a:r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page </a:t>
                      </a:r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data)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LinkedIn </a:t>
                      </a:r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Sales </a:t>
                      </a:r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Navigator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~$99–$149 </a:t>
                      </a:r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/ </a:t>
                      </a:r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month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YouTube </a:t>
                      </a:r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Data </a:t>
                      </a:r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API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Free </a:t>
                      </a:r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(within </a:t>
                      </a:r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quotas)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109087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Recommended Approach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548640"/>
            <a:ext cx="109087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 1: Maximize Google Maps + OutScraper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05840" y="960120"/>
            <a:ext cx="105430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Bef>
                <a:spcPts val="400"/>
              </a:spcBef>
              <a:buSzPct val="100000"/>
              <a:buFont typeface="+mj-lt"/>
              <a:buAutoNum type="circle" startAt="1"/>
            </a:pPr>
            <a:r>
              <a:rPr lang="en-US" sz="13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Increase Google Maps search cap to 60 (already done)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05840" y="1371600"/>
            <a:ext cx="105430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Bef>
                <a:spcPts val="400"/>
              </a:spcBef>
              <a:buSzPct val="100000"/>
              <a:buFont typeface="+mj-lt"/>
              <a:buAutoNum type="circle" startAt="1"/>
            </a:pPr>
            <a:r>
              <a:rPr lang="en-US" sz="13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Deduplicate results to avoid re-importing same leads (already done)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005840" y="1783080"/>
            <a:ext cx="105430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Bef>
                <a:spcPts val="400"/>
              </a:spcBef>
              <a:buSzPct val="100000"/>
              <a:buFont typeface="+mj-lt"/>
              <a:buAutoNum type="circle" startAt="1"/>
            </a:pPr>
            <a:r>
              <a:rPr lang="en-US" sz="13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Integrate OutScraper API for higher-volume Google Maps extraction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" y="2194560"/>
            <a:ext cx="109087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 2: Add D7 Lead Finder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005840" y="2606040"/>
            <a:ext cx="105430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Bef>
                <a:spcPts val="400"/>
              </a:spcBef>
              <a:buSzPct val="100000"/>
              <a:buFont typeface="+mj-lt"/>
              <a:buAutoNum type="circle" startAt="1"/>
            </a:pPr>
            <a:r>
              <a:rPr lang="en-US" sz="13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1,200 leads per search — massive volume increase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005840" y="3017520"/>
            <a:ext cx="105430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Bef>
                <a:spcPts val="400"/>
              </a:spcBef>
              <a:buSzPct val="100000"/>
              <a:buFont typeface="+mj-lt"/>
              <a:buAutoNum type="circle" startAt="1"/>
            </a:pPr>
            <a:r>
              <a:rPr lang="en-US" sz="13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Social signals included (FB/IG following, ad status, email provider)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0080" y="3429000"/>
            <a:ext cx="109087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 3: Social Media Integration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005840" y="3840480"/>
            <a:ext cx="105430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Bef>
                <a:spcPts val="400"/>
              </a:spcBef>
              <a:buSzPct val="100000"/>
              <a:buFont typeface="+mj-lt"/>
              <a:buAutoNum type="circle" startAt="1"/>
            </a:pPr>
            <a:r>
              <a:rPr lang="en-US" sz="13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Start with Facebook/Instagram Graph API (free)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005840" y="4251960"/>
            <a:ext cx="105430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Bef>
                <a:spcPts val="400"/>
              </a:spcBef>
              <a:buSzPct val="100000"/>
              <a:buFont typeface="+mj-lt"/>
              <a:buAutoNum type="circle" startAt="1"/>
            </a:pPr>
            <a:r>
              <a:rPr lang="en-US" sz="13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 LinkedIn Sales Navigator for B2B leads if needed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40080" y="4663440"/>
            <a:ext cx="109087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 4: Cross-Platform Deduplication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005840" y="5074920"/>
            <a:ext cx="105430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Bef>
                <a:spcPts val="400"/>
              </a:spcBef>
              <a:buSzPct val="100000"/>
              <a:buFont typeface="+mj-lt"/>
              <a:buAutoNum type="circle" startAt="1"/>
            </a:pPr>
            <a:r>
              <a:rPr lang="en-US" sz="13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Unify leads from all sources, deduplicate by email/phone/company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005840" y="5486400"/>
            <a:ext cx="105430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Bef>
                <a:spcPts val="400"/>
              </a:spcBef>
              <a:buSzPct val="100000"/>
              <a:buFont typeface="+mj-lt"/>
              <a:buAutoNum type="circle" startAt="1"/>
            </a:pPr>
            <a:r>
              <a:rPr lang="en-US" sz="13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Single source of truth in the CRM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E29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828800"/>
            <a:ext cx="10360152" cy="1828800"/>
          </a:xfrm>
          <a:prstGeom prst="rect">
            <a:avLst/>
          </a:prstGeom>
          <a:noFill/>
          <a:ln/>
          <a:effectLst>
            <a:outerShdw sx="100000" sy="100000" kx="0" ky="0" algn="bl" rotWithShape="0" blurRad="127000" dist="50800" dir="5400000">
              <a:srgbClr val="000000">
                <a:alpha val="75000"/>
              </a:srgbClr>
            </a:outerShdw>
          </a:effectLst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Thank You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914400" y="3657600"/>
            <a:ext cx="1036015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Questions &amp; Discussion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4114800" y="4389120"/>
            <a:ext cx="3959352" cy="45720"/>
          </a:xfrm>
          <a:prstGeom prst="rect">
            <a:avLst/>
          </a:prstGeom>
          <a:solidFill>
            <a:srgbClr val="2563EB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2026-05-15T07:07:48Z</dcterms:created>
  <dcterms:modified xsi:type="dcterms:W3CDTF">2026-05-15T07:07:48Z</dcterms:modified>
</cp:coreProperties>
</file>